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325" r:id="rId2"/>
    <p:sldId id="334" r:id="rId3"/>
    <p:sldId id="361" r:id="rId4"/>
    <p:sldId id="408" r:id="rId5"/>
    <p:sldId id="407" r:id="rId6"/>
    <p:sldId id="359" r:id="rId7"/>
    <p:sldId id="406" r:id="rId8"/>
    <p:sldId id="279" r:id="rId9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377327-C700-4767-BF9F-33F523DF7EF1}" v="2" dt="2025-10-24T08:53:50.826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C2F9924A-84FC-4DC7-84BD-E956D321B824}"/>
    <pc:docChg chg="custSel addSld delSld modSld">
      <pc:chgData name="Cooling, Chris" userId="6dcf99c9-2ba5-410a-8445-0893a3d1421f" providerId="ADAL" clId="{C2F9924A-84FC-4DC7-84BD-E956D321B824}" dt="2024-11-11T15:06:04.913" v="541" actId="20577"/>
      <pc:docMkLst>
        <pc:docMk/>
      </pc:docMkLst>
      <pc:sldChg chg="del">
        <pc:chgData name="Cooling, Chris" userId="6dcf99c9-2ba5-410a-8445-0893a3d1421f" providerId="ADAL" clId="{C2F9924A-84FC-4DC7-84BD-E956D321B824}" dt="2024-11-11T14:52:51.781" v="84" actId="47"/>
        <pc:sldMkLst>
          <pc:docMk/>
          <pc:sldMk cId="3212729572" sldId="323"/>
        </pc:sldMkLst>
      </pc:sldChg>
      <pc:sldChg chg="modSp add mod">
        <pc:chgData name="Cooling, Chris" userId="6dcf99c9-2ba5-410a-8445-0893a3d1421f" providerId="ADAL" clId="{C2F9924A-84FC-4DC7-84BD-E956D321B824}" dt="2024-11-11T14:51:05.241" v="83" actId="20577"/>
        <pc:sldMkLst>
          <pc:docMk/>
          <pc:sldMk cId="3528320225" sldId="325"/>
        </pc:sldMkLst>
      </pc:sldChg>
      <pc:sldChg chg="modSp mod">
        <pc:chgData name="Cooling, Chris" userId="6dcf99c9-2ba5-410a-8445-0893a3d1421f" providerId="ADAL" clId="{C2F9924A-84FC-4DC7-84BD-E956D321B824}" dt="2024-11-11T14:55:10.381" v="98" actId="20577"/>
        <pc:sldMkLst>
          <pc:docMk/>
          <pc:sldMk cId="16407505" sldId="361"/>
        </pc:sldMkLst>
      </pc:sldChg>
      <pc:sldChg chg="modSp mod">
        <pc:chgData name="Cooling, Chris" userId="6dcf99c9-2ba5-410a-8445-0893a3d1421f" providerId="ADAL" clId="{C2F9924A-84FC-4DC7-84BD-E956D321B824}" dt="2024-11-11T15:06:04.913" v="541" actId="20577"/>
        <pc:sldMkLst>
          <pc:docMk/>
          <pc:sldMk cId="4288594215" sldId="407"/>
        </pc:sldMkLst>
      </pc:sldChg>
    </pc:docChg>
  </pc:docChgLst>
  <pc:docChgLst>
    <pc:chgData name="Cooling, Chris" userId="6dcf99c9-2ba5-410a-8445-0893a3d1421f" providerId="ADAL" clId="{3D377327-C700-4767-BF9F-33F523DF7EF1}"/>
    <pc:docChg chg="modSld">
      <pc:chgData name="Cooling, Chris" userId="6dcf99c9-2ba5-410a-8445-0893a3d1421f" providerId="ADAL" clId="{3D377327-C700-4767-BF9F-33F523DF7EF1}" dt="2025-10-24T08:53:50.822" v="1" actId="20577"/>
      <pc:docMkLst>
        <pc:docMk/>
      </pc:docMkLst>
      <pc:sldChg chg="modSp mod">
        <pc:chgData name="Cooling, Chris" userId="6dcf99c9-2ba5-410a-8445-0893a3d1421f" providerId="ADAL" clId="{3D377327-C700-4767-BF9F-33F523DF7EF1}" dt="2025-10-24T08:53:50.822" v="1" actId="20577"/>
        <pc:sldMkLst>
          <pc:docMk/>
          <pc:sldMk cId="1507190070" sldId="359"/>
        </pc:sldMkLst>
        <pc:spChg chg="mod">
          <ac:chgData name="Cooling, Chris" userId="6dcf99c9-2ba5-410a-8445-0893a3d1421f" providerId="ADAL" clId="{3D377327-C700-4767-BF9F-33F523DF7EF1}" dt="2025-10-24T08:53:50.822" v="1" actId="20577"/>
          <ac:spMkLst>
            <pc:docMk/>
            <pc:sldMk cId="1507190070" sldId="359"/>
            <ac:spMk id="6" creationId="{F67B57BE-29B8-B7BA-15CB-930F83F6EB2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Remove after </a:t>
            </a:r>
            <a:r>
              <a:rPr lang="en-GB"/>
              <a:t>PRES closes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8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740-3B8F-41A3-8EA5-B8534F13C3B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30FC3-1846-4B2D-82D3-2C756BE8169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05A5F-52AF-4AB3-B9BB-AD7956A299A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DF59-4026-4993-9254-8E1AEBF6802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556B2-9E7B-4DD1-B53F-BB328EB36A1F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C2A8C-F90B-4C12-AADA-247BEB926B15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52478-8F6C-4F13-8BA1-32C720EA751C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32413-1876-4628-B0D5-C346ECACF472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FEF1C-5E68-4FB8-AFE3-BC8A29D5EBF6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9795F-3540-4CC9-A192-70D4583AC46E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72C1E-CC1E-4E8A-A314-98659A61041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D540-E981-4608-9A77-55650E03237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781DD-725D-4685-A585-2BC5DC85606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72CE-B9B3-4FBD-9701-E7554343598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F2B13-1A41-47C3-AC4E-67D21CB3424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4FBEC-7281-43CD-851C-F86929741A1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D752B-5523-4036-A789-A22ED8DD1B5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79D85-BDED-42AD-A643-8D6E061634C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784A-32A8-4354-A076-C6BE94AC474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3AAFB6-FC82-4A75-8FDF-4734E69327D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4710D-BE75-418E-ABBB-45878B67AD44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60A021-78E8-47A4-A73E-2B2314128FBE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B5695D-4178-4673-A4FE-7EAAD1B1708B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C143D9A-8FB5-48FD-83A8-562C329F7858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E00602-F867-4515-8B76-3C9CF9AA0EF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0A48BA-6237-4BFF-8262-3D37E24BED8E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B7350C9-1920-4F55-A8D4-58185D2A1D9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5A19-BB42-4FDD-B81B-0CBA36493BD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0C23-6829-4C40-BA6B-29852F5E68A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28AEA-3C8F-49D3-8B33-71DC80046E1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7733A-4A95-4DEE-962A-AED74667DF7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C05C5-A3F6-4086-8481-A17A3A41755B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86266-2C97-40F5-912B-07D12A13081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87A05-28A2-4D5C-9314-4E24310DC8C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B247-0CD0-490C-8985-7FA25D828C3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47BCD-73D3-4074-8F89-A63EBDAB539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CF59D-EA4F-4257-B0EF-67EAAE11D5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A662D-656A-469D-A081-72B4336EA8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B848B-AEA3-4E1A-BA23-5322A0E3AB28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57192-AE0E-4DF4-B16D-BB35B6DA78D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BDF07-61C4-42D9-8509-3F72B6359C5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D1FC1-8A37-40E2-9C66-80F7ED708F4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B8B7E-2DF8-4625-8F01-E5E060B907D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9B4C9-A314-4F5C-98E0-402B29B15E1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AF60-822B-410F-B197-E75F6DF6043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A34CE715-D1A7-49CE-972D-F2AE35069195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object-oriented-python" TargetMode="External"/><Relationship Id="rId2" Type="http://schemas.openxmlformats.org/officeDocument/2006/relationships/hyperlink" Target="https://github.com/ImperialCollegeLondon/RCDS-profiling-and-optimisation-in-python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profiling-and-optimisation-in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imperialcollegelondon.github.io/ReCoDe-Euler-Maruyama/5-Parallel-Euler-Maruyama-Class/" TargetMode="External"/><Relationship Id="rId3" Type="http://schemas.openxmlformats.org/officeDocument/2006/relationships/hyperlink" Target="https://imperialcollegelondon.github.io/ReCoDE-home/exemplars/" TargetMode="External"/><Relationship Id="rId7" Type="http://schemas.openxmlformats.org/officeDocument/2006/relationships/hyperlink" Target="https://imperialcollegelondon.github.io/ReCoDe-Euler-Maruyam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recode-mcmcff.readthedocs.io/en/latest/learning/06%20Speeding%20It%20Up.html" TargetMode="External"/><Relationship Id="rId11" Type="http://schemas.openxmlformats.org/officeDocument/2006/relationships/hyperlink" Target="https://imperialcollegelondon.github.io/ReCoDE-SPH-solver-2D-NS/8.Efficient_Programming/" TargetMode="External"/><Relationship Id="rId5" Type="http://schemas.openxmlformats.org/officeDocument/2006/relationships/hyperlink" Target="https://recode-mcmcff.readthedocs.io/en/latest/" TargetMode="External"/><Relationship Id="rId10" Type="http://schemas.openxmlformats.org/officeDocument/2006/relationships/hyperlink" Target="https://imperialcollegelondon.github.io/ReCoDE-SPH-solver-2D-NS/A3.Profiling/" TargetMode="External"/><Relationship Id="rId4" Type="http://schemas.openxmlformats.org/officeDocument/2006/relationships/hyperlink" Target="https://imperialcollegelondon.github.io/ReCoDE-home/" TargetMode="External"/><Relationship Id="rId9" Type="http://schemas.openxmlformats.org/officeDocument/2006/relationships/hyperlink" Target="https://imperialcollegelondon.github.io/ReCoDE-SPH-solver-2D-N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Relationship Id="rId4" Type="http://schemas.openxmlformats.org/officeDocument/2006/relationships/hyperlink" Target="https://www.imperial.ac.uk/students/academic-support/graduate-school/community-development/pres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C0BA-CA37-DEB8-790F-7E3E6CE2E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Profiling and Optimisation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563428-ABDB-D4AE-2088-152ADB16C2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ECRI Senior Teaching Fellow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32022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A6B0798C-C737-427A-8621-7CD88B6BE28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Determine</a:t>
            </a:r>
            <a:r>
              <a:rPr lang="en-GB" sz="3600" dirty="0"/>
              <a:t> when profiling and optimisation is appropriate for a project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Use</a:t>
            </a:r>
            <a:r>
              <a:rPr lang="en-GB" sz="3600" dirty="0"/>
              <a:t> selected profilers to examine the impact of section of code on run-time and memory usage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Utilise</a:t>
            </a:r>
            <a:r>
              <a:rPr lang="en-GB" sz="3600" dirty="0"/>
              <a:t> profiler outputs to identify problematic areas of code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Apply</a:t>
            </a:r>
            <a:r>
              <a:rPr lang="en-GB" sz="3600" dirty="0"/>
              <a:t> common optimisation techniques to improve code performance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F3D28C7B-1560-4AC5-A729-2BF07782DDF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GitHub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B7813F7E-A2E2-45C6-9A08-61CC46C144DA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B47E44B-A582-45D4-96C1-2E005F574EF9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Profiling and Optimisation Exemplars:</a:t>
            </a:r>
          </a:p>
          <a:p>
            <a:pPr marL="504891" lvl="2" indent="-342900"/>
            <a:r>
              <a:rPr lang="en-GB" dirty="0">
                <a:hlinkClick r:id="rId5"/>
              </a:rPr>
              <a:t>Monte Carlo for Fun</a:t>
            </a:r>
            <a:endParaRPr lang="en-GB" dirty="0"/>
          </a:p>
          <a:p>
            <a:pPr marL="666884" lvl="3" indent="-342900"/>
            <a:r>
              <a:rPr lang="en-GB" dirty="0"/>
              <a:t>Introduces Markov Chain Monte Carlo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6"/>
              </a:rPr>
              <a:t>discussion</a:t>
            </a:r>
            <a:r>
              <a:rPr lang="en-GB" dirty="0"/>
              <a:t> of how to speed it up</a:t>
            </a:r>
          </a:p>
          <a:p>
            <a:pPr marL="504891" lvl="2" indent="-342900"/>
            <a:r>
              <a:rPr lang="en-GB" dirty="0">
                <a:hlinkClick r:id="rId7"/>
              </a:rPr>
              <a:t>Euler-Maruyama</a:t>
            </a:r>
            <a:r>
              <a:rPr lang="en-GB" dirty="0"/>
              <a:t>:</a:t>
            </a:r>
          </a:p>
          <a:p>
            <a:pPr marL="666884" lvl="3" indent="-342900"/>
            <a:r>
              <a:rPr lang="en-GB" dirty="0"/>
              <a:t>Solves Stochastic Differential Equations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8"/>
              </a:rPr>
              <a:t>parallel implementation </a:t>
            </a:r>
            <a:r>
              <a:rPr lang="en-GB" dirty="0"/>
              <a:t>using </a:t>
            </a:r>
            <a:r>
              <a:rPr lang="en-GB" dirty="0" err="1"/>
              <a:t>joblib</a:t>
            </a:r>
            <a:endParaRPr lang="en-GB" dirty="0"/>
          </a:p>
          <a:p>
            <a:pPr marL="504891" lvl="2" indent="-342900"/>
            <a:r>
              <a:rPr lang="en-GB" dirty="0">
                <a:hlinkClick r:id="rId9"/>
              </a:rPr>
              <a:t>SPH Solvers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fluid dynamics problems in C++</a:t>
            </a:r>
          </a:p>
          <a:p>
            <a:pPr marL="666884" lvl="3" indent="-342900"/>
            <a:r>
              <a:rPr lang="en-GB" dirty="0"/>
              <a:t>Includes a discussion about </a:t>
            </a:r>
            <a:r>
              <a:rPr lang="en-GB" dirty="0">
                <a:hlinkClick r:id="rId10"/>
              </a:rPr>
              <a:t>profiling</a:t>
            </a:r>
            <a:r>
              <a:rPr lang="en-GB" dirty="0"/>
              <a:t> and </a:t>
            </a:r>
            <a:r>
              <a:rPr lang="en-GB" dirty="0">
                <a:hlinkClick r:id="rId11"/>
              </a:rPr>
              <a:t>optimisation</a:t>
            </a:r>
            <a:endParaRPr lang="en-GB" dirty="0"/>
          </a:p>
          <a:p>
            <a:pPr marL="666884" lvl="3" indent="-34290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4A9E9-BC15-4B2A-85BE-31A72AB693BC}" type="datetime1">
              <a:rPr lang="en-GB" smtClean="0"/>
              <a:t>24/10/2025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</a:t>
            </a:r>
            <a:r>
              <a:rPr lang="en-GB" sz="2600"/>
              <a:t>is </a:t>
            </a:r>
            <a:r>
              <a:rPr lang="en-GB" sz="26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6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/>
              <a:t>You </a:t>
            </a:r>
            <a:r>
              <a:rPr lang="en-GB" sz="26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DB0FD8D-5DA8-6F79-6B1A-9EDD19CA9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800" y="928000"/>
            <a:ext cx="5167745" cy="516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00" y="1864819"/>
            <a:ext cx="4742772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PRES 2025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8BDFF0-9D53-5DAB-3700-2938EAF96C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53" y="417970"/>
            <a:ext cx="2448272" cy="1446849"/>
          </a:xfrm>
          <a:prstGeom prst="rect">
            <a:avLst/>
          </a:prstGeom>
          <a:solidFill>
            <a:srgbClr val="98FB98"/>
          </a:solidFill>
          <a:effectLst>
            <a:outerShdw blurRad="50800" dist="50800" dir="5400000" algn="ctr" rotWithShape="0">
              <a:srgbClr val="98FB98"/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42163F-282C-50FB-3BC2-3BC83316980D}"/>
              </a:ext>
            </a:extLst>
          </p:cNvPr>
          <p:cNvSpPr txBox="1">
            <a:spLocks/>
          </p:cNvSpPr>
          <p:nvPr/>
        </p:nvSpPr>
        <p:spPr>
          <a:xfrm>
            <a:off x="399472" y="4079052"/>
            <a:ext cx="11376891" cy="18288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1" kern="1200">
                <a:solidFill>
                  <a:srgbClr val="98FB98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Coming in 2025 - PRES is a national survey for research degree students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Find out more about the action we have taken in response to the previous PRES: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EE82EE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sz="2000" dirty="0">
              <a:solidFill>
                <a:srgbClr val="EE82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329530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6072</TotalTime>
  <Words>441</Words>
  <Application>Microsoft Office PowerPoint</Application>
  <PresentationFormat>Widescreen</PresentationFormat>
  <Paragraphs>77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Calibri</vt:lpstr>
      <vt:lpstr>Arial</vt:lpstr>
      <vt:lpstr>Times New Roman</vt:lpstr>
      <vt:lpstr>ICL PPT Theme</vt:lpstr>
      <vt:lpstr>Profiling and Optimisation in Python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PRES 2025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2025-10-24T08:53:51Z</dcterms:modified>
</cp:coreProperties>
</file>