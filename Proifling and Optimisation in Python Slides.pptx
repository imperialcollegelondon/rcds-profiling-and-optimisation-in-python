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325" r:id="rId2"/>
    <p:sldId id="334" r:id="rId3"/>
    <p:sldId id="361" r:id="rId4"/>
    <p:sldId id="408" r:id="rId5"/>
    <p:sldId id="407" r:id="rId6"/>
    <p:sldId id="359" r:id="rId7"/>
    <p:sldId id="279" r:id="rId8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2" autoAdjust="0"/>
    <p:restoredTop sz="71436" autoAdjust="0"/>
  </p:normalViewPr>
  <p:slideViewPr>
    <p:cSldViewPr snapToGrid="0" showGuides="1">
      <p:cViewPr varScale="1">
        <p:scale>
          <a:sx n="53" d="100"/>
          <a:sy n="53" d="100"/>
        </p:scale>
        <p:origin x="404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13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1" d="100"/>
          <a:sy n="111" d="100"/>
        </p:scale>
        <p:origin x="1312" y="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oling, Chris" userId="6dcf99c9-2ba5-410a-8445-0893a3d1421f" providerId="ADAL" clId="{0564427D-CD1D-4B33-9C97-2A8069F97102}"/>
    <pc:docChg chg="custSel modSld">
      <pc:chgData name="Cooling, Chris" userId="6dcf99c9-2ba5-410a-8445-0893a3d1421f" providerId="ADAL" clId="{0564427D-CD1D-4B33-9C97-2A8069F97102}" dt="2026-10-09T10:12:06.858" v="5" actId="14100"/>
      <pc:docMkLst>
        <pc:docMk/>
      </pc:docMkLst>
      <pc:sldChg chg="addSp delSp modSp mod">
        <pc:chgData name="Cooling, Chris" userId="6dcf99c9-2ba5-410a-8445-0893a3d1421f" providerId="ADAL" clId="{0564427D-CD1D-4B33-9C97-2A8069F97102}" dt="2026-10-09T10:12:06.858" v="5" actId="14100"/>
        <pc:sldMkLst>
          <pc:docMk/>
          <pc:sldMk cId="1507190070" sldId="359"/>
        </pc:sldMkLst>
        <pc:spChg chg="mod">
          <ac:chgData name="Cooling, Chris" userId="6dcf99c9-2ba5-410a-8445-0893a3d1421f" providerId="ADAL" clId="{0564427D-CD1D-4B33-9C97-2A8069F97102}" dt="2026-10-09T10:11:35.108" v="1" actId="20577"/>
          <ac:spMkLst>
            <pc:docMk/>
            <pc:sldMk cId="1507190070" sldId="359"/>
            <ac:spMk id="6" creationId="{F67B57BE-29B8-B7BA-15CB-930F83F6EB26}"/>
          </ac:spMkLst>
        </pc:spChg>
        <pc:picChg chg="add mod">
          <ac:chgData name="Cooling, Chris" userId="6dcf99c9-2ba5-410a-8445-0893a3d1421f" providerId="ADAL" clId="{0564427D-CD1D-4B33-9C97-2A8069F97102}" dt="2026-10-09T10:12:06.858" v="5" actId="14100"/>
          <ac:picMkLst>
            <pc:docMk/>
            <pc:sldMk cId="1507190070" sldId="359"/>
            <ac:picMk id="5" creationId="{F0AE690E-1C15-9EE4-489B-47174A7853A6}"/>
          </ac:picMkLst>
        </pc:picChg>
        <pc:picChg chg="del">
          <ac:chgData name="Cooling, Chris" userId="6dcf99c9-2ba5-410a-8445-0893a3d1421f" providerId="ADAL" clId="{0564427D-CD1D-4B33-9C97-2A8069F97102}" dt="2026-10-09T10:11:30.184" v="0" actId="478"/>
          <ac:picMkLst>
            <pc:docMk/>
            <pc:sldMk cId="1507190070" sldId="359"/>
            <ac:picMk id="10" creationId="{8DB0FD8D-5DA8-6F79-6B1A-9EDD19CA97C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0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Check Gotchas/gotchas.f90 for example of behaviour you might </a:t>
            </a:r>
            <a:r>
              <a:rPr lang="en-GB"/>
              <a:t>not expect.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40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5953376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035571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89454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464863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7740-3B8F-41A3-8EA5-B8534F13C3B3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rgbClr val="232333"/>
                </a:solidFill>
              </a:defRPr>
            </a:lvl1pPr>
            <a:lvl2pP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30FC3-1846-4B2D-82D3-2C756BE81694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00FF7F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00FF7F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5A5F-52AF-4AB3-B9BB-AD7956A299A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232333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232333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232333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232333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232333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6DF59-4026-4993-9254-8E1AEBF6802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556B2-9E7B-4DD1-B53F-BB328EB36A1F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C2A8C-F90B-4C12-AADA-247BEB926B15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2478-8F6C-4F13-8BA1-32C720EA751C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32413-1876-4628-B0D5-C346ECACF472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EF1C-5E68-4FB8-AFE3-BC8A29D5EBF6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9795F-3540-4CC9-A192-70D4583AC46E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72C1E-CC1E-4E8A-A314-98659A61041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540-E981-4608-9A77-55650E032376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81DD-725D-4685-A585-2BC5DC856066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72CE-B9B3-4FBD-9701-E7554343598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2B13-1A41-47C3-AC4E-67D21CB34247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FBEC-7281-43CD-851C-F86929741A10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6400"/>
              </a:buClr>
              <a:defRPr sz="1800"/>
            </a:lvl3pPr>
            <a:lvl4pPr rtl="0">
              <a:buClr>
                <a:srgbClr val="006400"/>
              </a:buClr>
              <a:defRPr sz="1800"/>
            </a:lvl4pPr>
            <a:lvl5pPr rtl="0"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752B-5523-4036-A789-A22ED8DD1B5C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79D85-BDED-42AD-A643-8D6E061634C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784A-32A8-4354-A076-C6BE94AC474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3AAFB6-FC82-4A75-8FDF-4734E69327DA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4710D-BE75-418E-ABBB-45878B67AD44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8807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60A021-78E8-47A4-A73E-2B2314128FBE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 descr="A black and white image of two people&#10;&#10;Description automatically generated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B5695D-4178-4673-A4FE-7EAAD1B1708B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1736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143D9A-8FB5-48FD-83A8-562C329F7858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7928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E00602-F867-4515-8B76-3C9CF9AA0EF5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4246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0A48BA-6237-4BFF-8262-3D37E24BED8E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95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7350C9-1920-4F55-A8D4-58185D2A1D95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026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5A19-BB42-4FDD-B81B-0CBA36493BD3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0C23-6829-4C40-BA6B-29852F5E68AC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8AEA-3C8F-49D3-8B33-71DC80046E19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7733A-4A95-4DEE-962A-AED74667DF7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5C5-A3F6-4086-8481-A17A3A41755B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8750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6266-2C97-40F5-912B-07D12A13081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7A05-28A2-4D5C-9314-4E24310DC8C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928214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FB247-0CD0-490C-8985-7FA25D828C39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47BCD-73D3-4074-8F89-A63EBDAB539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F59D-EA4F-4257-B0EF-67EAAE11D56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A662D-656A-469D-A081-72B4336EA86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B848B-AEA3-4E1A-BA23-5322A0E3AB28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57192-AE0E-4DF4-B16D-BB35B6DA78D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BDF07-61C4-42D9-8509-3F72B6359C53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D1FC1-8A37-40E2-9C66-80F7ED708F4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6400"/>
              </a:buClr>
              <a:defRPr sz="1800"/>
            </a:lvl3pPr>
            <a:lvl4pPr>
              <a:buClr>
                <a:srgbClr val="006400"/>
              </a:buClr>
              <a:defRPr sz="1800"/>
            </a:lvl4pPr>
            <a:lvl5pPr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8B7E-2DF8-4625-8F01-E5E060B907D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B4C9-A314-4F5C-98E0-402B29B15E1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5AF60-822B-410F-B197-E75F6DF6043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een and black logo&#10;&#10;Description automatically generated">
            <a:extLst>
              <a:ext uri="{FF2B5EF4-FFF2-40B4-BE49-F238E27FC236}">
                <a16:creationId xmlns:a16="http://schemas.microsoft.com/office/drawing/2014/main" id="{98DBF964-2C27-A4D1-7AEE-2AE56263D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70" y="327819"/>
            <a:ext cx="11536293" cy="221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9DDF72-DF0B-FA74-2E07-D490692B3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188" y="327819"/>
            <a:ext cx="3964683" cy="109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rgbClr val="232333"/>
                </a:solidFill>
              </a:defRPr>
            </a:lvl1pPr>
          </a:lstStyle>
          <a:p>
            <a:fld id="{A34CE715-D1A7-49CE-972D-F2AE35069195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rgbClr val="232333"/>
                </a:solidFill>
              </a:defRPr>
            </a:lvl1pPr>
          </a:lstStyle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rgbClr val="232333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rgbClr val="232333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715" r:id="rId2"/>
    <p:sldLayoutId id="2147483716" r:id="rId3"/>
    <p:sldLayoutId id="2147483717" r:id="rId4"/>
    <p:sldLayoutId id="2147483718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721" r:id="rId26"/>
    <p:sldLayoutId id="2147483666" r:id="rId27"/>
    <p:sldLayoutId id="2147483719" r:id="rId28"/>
    <p:sldLayoutId id="2147483720" r:id="rId29"/>
    <p:sldLayoutId id="2147483722" r:id="rId30"/>
    <p:sldLayoutId id="2147483723" r:id="rId31"/>
    <p:sldLayoutId id="2147483724" r:id="rId32"/>
    <p:sldLayoutId id="2147483661" r:id="rId33"/>
    <p:sldLayoutId id="2147483695" r:id="rId34"/>
    <p:sldLayoutId id="2147483696" r:id="rId35"/>
    <p:sldLayoutId id="2147483669" r:id="rId36"/>
    <p:sldLayoutId id="2147483697" r:id="rId37"/>
    <p:sldLayoutId id="2147483698" r:id="rId38"/>
    <p:sldLayoutId id="2147483678" r:id="rId39"/>
    <p:sldLayoutId id="2147483699" r:id="rId40"/>
    <p:sldLayoutId id="2147483700" r:id="rId41"/>
    <p:sldLayoutId id="2147483662" r:id="rId42"/>
    <p:sldLayoutId id="2147483701" r:id="rId43"/>
    <p:sldLayoutId id="2147483702" r:id="rId44"/>
    <p:sldLayoutId id="2147483663" r:id="rId45"/>
    <p:sldLayoutId id="2147483703" r:id="rId46"/>
    <p:sldLayoutId id="2147483704" r:id="rId47"/>
    <p:sldLayoutId id="2147483664" r:id="rId48"/>
    <p:sldLayoutId id="2147483705" r:id="rId49"/>
    <p:sldLayoutId id="2147483706" r:id="rId50"/>
    <p:sldLayoutId id="2147483665" r:id="rId51"/>
    <p:sldLayoutId id="2147483670" r:id="rId52"/>
    <p:sldLayoutId id="2147483673" r:id="rId5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06400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perialCollegeLondon/RCDS-object-oriented-python" TargetMode="External"/><Relationship Id="rId2" Type="http://schemas.openxmlformats.org/officeDocument/2006/relationships/hyperlink" Target="https://github.com/ImperialCollegeLondon/RCDS-profiling-and-optimisation-in-python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github.com/ImperialCollegeLondon/RCDS-profiling-and-optimisation-in-python/blob/master/README.md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imperialcollegelondon.github.io/ReCoDe-Euler-Maruyama/5-Parallel-Euler-Maruyama-Class/" TargetMode="External"/><Relationship Id="rId3" Type="http://schemas.openxmlformats.org/officeDocument/2006/relationships/hyperlink" Target="https://imperialcollegelondon.github.io/ReCoDE-home/exemplars/" TargetMode="External"/><Relationship Id="rId7" Type="http://schemas.openxmlformats.org/officeDocument/2006/relationships/hyperlink" Target="https://imperialcollegelondon.github.io/ReCoDe-Euler-Maruyam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recode-mcmcff.readthedocs.io/en/latest/learning/06%20Speeding%20It%20Up.html" TargetMode="External"/><Relationship Id="rId11" Type="http://schemas.openxmlformats.org/officeDocument/2006/relationships/hyperlink" Target="https://imperialcollegelondon.github.io/ReCoDE-SPH-solver-2D-NS/8.Efficient_Programming/" TargetMode="External"/><Relationship Id="rId5" Type="http://schemas.openxmlformats.org/officeDocument/2006/relationships/hyperlink" Target="https://recode-mcmcff.readthedocs.io/en/latest/" TargetMode="External"/><Relationship Id="rId10" Type="http://schemas.openxmlformats.org/officeDocument/2006/relationships/hyperlink" Target="https://imperialcollegelondon.github.io/ReCoDE-SPH-solver-2D-NS/A3.Profiling/" TargetMode="External"/><Relationship Id="rId4" Type="http://schemas.openxmlformats.org/officeDocument/2006/relationships/hyperlink" Target="https://imperialcollegelondon.github.io/ReCoDE-home/" TargetMode="External"/><Relationship Id="rId9" Type="http://schemas.openxmlformats.org/officeDocument/2006/relationships/hyperlink" Target="https://imperialcollegelondon.github.io/ReCoDE-SPH-solver-2D-N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C0BA-CA37-DEB8-790F-7E3E6CE2E9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Profiling and Optimisation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63428-ABDB-D4AE-2088-152ADB16C2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Chris Cooling</a:t>
            </a:r>
          </a:p>
          <a:p>
            <a:r>
              <a:rPr lang="en-GB" dirty="0"/>
              <a:t>ECRI Senior Teaching Fellow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32022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GB" sz="2800" dirty="0"/>
              <a:t>Important Information on Marking your Attendance on Inkpath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7" y="1773239"/>
            <a:ext cx="11541125" cy="3608230"/>
          </a:xfrm>
        </p:spPr>
        <p:txBody>
          <a:bodyPr/>
          <a:lstStyle/>
          <a:p>
            <a:r>
              <a:rPr lang="en-GB" sz="3200" dirty="0"/>
              <a:t>I will show you a QR code at the end of the session allowing you to mark your attendance on Inkpath. Please do not mark your attendance until then.</a:t>
            </a:r>
            <a:br>
              <a:rPr lang="en-GB" sz="3200" dirty="0"/>
            </a:b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If you are a Postgraduate Research student, this is required for receiving your ECRI professional development credit for this course.</a:t>
            </a:r>
            <a:endParaRPr lang="en-GB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A6B0798C-C737-427A-8621-7CD88B6BE285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186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b="1" dirty="0"/>
              <a:t>Determine</a:t>
            </a:r>
            <a:r>
              <a:rPr lang="en-GB" sz="3600" dirty="0"/>
              <a:t> when profiling and optimisation is appropriate for a project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b="1" dirty="0"/>
              <a:t>Use</a:t>
            </a:r>
            <a:r>
              <a:rPr lang="en-GB" sz="3600" dirty="0"/>
              <a:t> selected profilers to examine the impact of section of code on run-time and memory usage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b="1" dirty="0"/>
              <a:t>Utilise</a:t>
            </a:r>
            <a:r>
              <a:rPr lang="en-GB" sz="3600" dirty="0"/>
              <a:t> profiler outputs to identify problematic areas of code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b="1" dirty="0"/>
              <a:t>Apply</a:t>
            </a:r>
            <a:r>
              <a:rPr lang="en-GB" sz="3600" dirty="0"/>
              <a:t> common optimisation techniques to improve code performance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F3D28C7B-1560-4AC5-A729-2BF07782DDF5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750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course materials are stored in a 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GitHub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 repository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Instructions for using the materials are found in the 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readme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Links to open the course notebooks in </a:t>
            </a:r>
            <a:r>
              <a:rPr lang="en-US" sz="36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Colab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are at the bottom of the readme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materials can also be downloaded and run locally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can also star/fork the repository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B7813F7E-A2E2-45C6-9A08-61CC46C144DA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6149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GB" sz="2800" dirty="0" err="1"/>
              <a:t>ReCoDE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6B47E44B-A582-45D4-96C1-2E005F574EF9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5313110" cy="137319"/>
          </a:xfrm>
        </p:spPr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49521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E72B19A-BAEF-7DAE-DDC1-54394DA86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409363" cy="4525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RCDS team has curated a collection of annotated </a:t>
            </a:r>
            <a:r>
              <a:rPr lang="en-GB" dirty="0">
                <a:hlinkClick r:id="rId3"/>
              </a:rPr>
              <a:t>exemplar projects</a:t>
            </a:r>
            <a:r>
              <a:rPr lang="en-GB" dirty="0"/>
              <a:t> known as </a:t>
            </a:r>
            <a:r>
              <a:rPr lang="en-GB" dirty="0" err="1">
                <a:hlinkClick r:id="rId4"/>
              </a:rPr>
              <a:t>ReCoDE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These demonstrate core research computing and data science principles applied to real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Accompanied by detailed descriptions of how they work, and the design decisions taken.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dirty="0"/>
              <a:t>Profiling and Optimisation Exemplars:</a:t>
            </a:r>
          </a:p>
          <a:p>
            <a:pPr marL="504891" lvl="2" indent="-342900"/>
            <a:r>
              <a:rPr lang="en-GB" dirty="0">
                <a:hlinkClick r:id="rId5"/>
              </a:rPr>
              <a:t>Monte Carlo for Fun</a:t>
            </a:r>
            <a:endParaRPr lang="en-GB" dirty="0"/>
          </a:p>
          <a:p>
            <a:pPr marL="666884" lvl="3" indent="-342900"/>
            <a:r>
              <a:rPr lang="en-GB" dirty="0"/>
              <a:t>Introduces Markov Chain Monte Carlo in Python</a:t>
            </a:r>
          </a:p>
          <a:p>
            <a:pPr marL="666884" lvl="3" indent="-342900"/>
            <a:r>
              <a:rPr lang="en-GB" dirty="0"/>
              <a:t>Includes a </a:t>
            </a:r>
            <a:r>
              <a:rPr lang="en-GB" dirty="0">
                <a:hlinkClick r:id="rId6"/>
              </a:rPr>
              <a:t>discussion</a:t>
            </a:r>
            <a:r>
              <a:rPr lang="en-GB" dirty="0"/>
              <a:t> of how to speed it up</a:t>
            </a:r>
          </a:p>
          <a:p>
            <a:pPr marL="504891" lvl="2" indent="-342900"/>
            <a:r>
              <a:rPr lang="en-GB" dirty="0">
                <a:hlinkClick r:id="rId7"/>
              </a:rPr>
              <a:t>Euler-Maruyama</a:t>
            </a:r>
            <a:r>
              <a:rPr lang="en-GB" dirty="0"/>
              <a:t>:</a:t>
            </a:r>
          </a:p>
          <a:p>
            <a:pPr marL="666884" lvl="3" indent="-342900"/>
            <a:r>
              <a:rPr lang="en-GB" dirty="0"/>
              <a:t>Solves Stochastic Differential Equations in Python</a:t>
            </a:r>
          </a:p>
          <a:p>
            <a:pPr marL="666884" lvl="3" indent="-342900"/>
            <a:r>
              <a:rPr lang="en-GB" dirty="0"/>
              <a:t>Includes a </a:t>
            </a:r>
            <a:r>
              <a:rPr lang="en-GB" dirty="0">
                <a:hlinkClick r:id="rId8"/>
              </a:rPr>
              <a:t>parallel implementation </a:t>
            </a:r>
            <a:r>
              <a:rPr lang="en-GB" dirty="0"/>
              <a:t>using </a:t>
            </a:r>
            <a:r>
              <a:rPr lang="en-GB" dirty="0" err="1"/>
              <a:t>joblib</a:t>
            </a:r>
            <a:endParaRPr lang="en-GB" dirty="0"/>
          </a:p>
          <a:p>
            <a:pPr marL="504891" lvl="2" indent="-342900"/>
            <a:r>
              <a:rPr lang="en-GB" dirty="0">
                <a:hlinkClick r:id="rId9"/>
              </a:rPr>
              <a:t>SPH Solvers for 2D Navier-Stokes</a:t>
            </a:r>
            <a:endParaRPr lang="en-GB" dirty="0"/>
          </a:p>
          <a:p>
            <a:pPr marL="666884" lvl="3" indent="-342900"/>
            <a:r>
              <a:rPr lang="en-GB" dirty="0"/>
              <a:t>Solves fluid dynamics problems in C++</a:t>
            </a:r>
          </a:p>
          <a:p>
            <a:pPr marL="666884" lvl="3" indent="-342900"/>
            <a:r>
              <a:rPr lang="en-GB" dirty="0"/>
              <a:t>Includes a discussion about </a:t>
            </a:r>
            <a:r>
              <a:rPr lang="en-GB" dirty="0">
                <a:hlinkClick r:id="rId10"/>
              </a:rPr>
              <a:t>profiling</a:t>
            </a:r>
            <a:r>
              <a:rPr lang="en-GB" dirty="0"/>
              <a:t> and </a:t>
            </a:r>
            <a:r>
              <a:rPr lang="en-GB" dirty="0">
                <a:hlinkClick r:id="rId11"/>
              </a:rPr>
              <a:t>optimisation</a:t>
            </a:r>
            <a:endParaRPr lang="en-GB" dirty="0"/>
          </a:p>
          <a:p>
            <a:pPr marL="666884" lvl="3" indent="-34290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859421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A737-0B87-8D06-30BC-159A01E5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E690-3DB5-C8AC-A9B4-2E152B27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Please take 3 minutes to complete the evaluation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4DF49-9A4D-5154-542F-80280136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4A9E9-BC15-4B2A-85BE-31A72AB693BC}" type="datetime1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811AD-8D42-0DE4-1E96-E0C6A5A1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Profiling and Optimisation in Python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DDFA7-DE3D-8D77-CFD3-B19A6CF5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7DBC8-6B4B-6860-9339-77D08AD9E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B57BE-29B8-B7BA-15CB-930F83F6EB2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68248" y="1509025"/>
            <a:ext cx="5489924" cy="41422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Once you’ve completed this course, please provide feedback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600" dirty="0"/>
              <a:t>The link is You should also have received an email with this link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600" dirty="0"/>
              <a:t>This helps us improve the class for future students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E690E-1C15-9EE4-489B-47174A785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99" y="1008646"/>
            <a:ext cx="5062913" cy="50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900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00" y="3338513"/>
            <a:ext cx="9144000" cy="1828800"/>
          </a:xfrm>
        </p:spPr>
        <p:txBody>
          <a:bodyPr/>
          <a:lstStyle/>
          <a:p>
            <a:r>
              <a:rPr lang="en-US" dirty="0">
                <a:solidFill>
                  <a:srgbClr val="98FB98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0200" y="5878513"/>
            <a:ext cx="5606257" cy="652463"/>
          </a:xfrm>
        </p:spPr>
        <p:txBody>
          <a:bodyPr/>
          <a:lstStyle/>
          <a:p>
            <a:r>
              <a:rPr lang="en-US" dirty="0"/>
              <a:t>Presentation Title</a:t>
            </a:r>
          </a:p>
          <a:p>
            <a:r>
              <a:rPr lang="en-US" dirty="0"/>
              <a:t>DD/MM/YYYY</a:t>
            </a:r>
          </a:p>
        </p:txBody>
      </p:sp>
    </p:spTree>
    <p:extLst>
      <p:ext uri="{BB962C8B-B14F-4D97-AF65-F5344CB8AC3E}">
        <p14:creationId xmlns:p14="http://schemas.microsoft.com/office/powerpoint/2010/main" val="22874516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CL_PowerPoint 16_9 template.potx" id="{0A6366DA-4143-4819-954D-649CAC6891CC}" vid="{00E466E9-FA83-448D-94BE-48FEA435C0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6072</TotalTime>
  <Words>375</Words>
  <Application>Microsoft Office PowerPoint</Application>
  <PresentationFormat>Widescreen</PresentationFormat>
  <Paragraphs>66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Times New Roman</vt:lpstr>
      <vt:lpstr>Arial</vt:lpstr>
      <vt:lpstr>ICL PPT Theme</vt:lpstr>
      <vt:lpstr>Profiling and Optimisation in Python</vt:lpstr>
      <vt:lpstr>Important Information on Marking your Attendance on Inkpath</vt:lpstr>
      <vt:lpstr>Learning Outcomes</vt:lpstr>
      <vt:lpstr>Course Materials</vt:lpstr>
      <vt:lpstr>ReCoDE</vt:lpstr>
      <vt:lpstr>Please take 3 minutes to complete the evaluation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 xxxxx</dc:title>
  <dc:creator>Carly Murphy-Merrydew</dc:creator>
  <cp:lastModifiedBy>Cooling, Chris</cp:lastModifiedBy>
  <cp:revision>17</cp:revision>
  <dcterms:created xsi:type="dcterms:W3CDTF">2024-09-12T08:44:53Z</dcterms:created>
  <dcterms:modified xsi:type="dcterms:W3CDTF">2026-10-09T10:12:08Z</dcterms:modified>
</cp:coreProperties>
</file>